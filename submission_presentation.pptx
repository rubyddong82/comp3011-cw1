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548640" y="256032"/>
            <a:ext cx="11064240" cy="731520"/>
          </a:xfrm>
          <a:prstGeom prst="rect">
            <a:avLst/>
          </a:prstGeom>
          <a:noFill/>
        </p:spPr>
        <p:txBody>
          <a:bodyPr wrap="none">
            <a:spAutoFit/>
          </a:bodyPr>
          <a:lstStyle/>
          <a:p>
            <a:pPr algn="ctr"/>
            <a:r>
              <a:rPr sz="2700" b="1">
                <a:solidFill>
                  <a:srgbClr val="142850"/>
                </a:solidFill>
              </a:rPr>
              <a:t>CW1 Submission Presentation</a:t>
            </a:r>
          </a:p>
        </p:txBody>
      </p:sp>
      <p:sp>
        <p:nvSpPr>
          <p:cNvPr id="3" name="TextBox 2"/>
          <p:cNvSpPr txBox="1"/>
          <p:nvPr/>
        </p:nvSpPr>
        <p:spPr>
          <a:xfrm>
            <a:off x="731520" y="914400"/>
            <a:ext cx="10698480" cy="438912"/>
          </a:xfrm>
          <a:prstGeom prst="rect">
            <a:avLst/>
          </a:prstGeom>
          <a:noFill/>
        </p:spPr>
        <p:txBody>
          <a:bodyPr wrap="none">
            <a:spAutoFit/>
          </a:bodyPr>
          <a:lstStyle/>
          <a:p>
            <a:pPr algn="ctr"/>
            <a:r>
              <a:rPr sz="1400">
                <a:solidFill>
                  <a:srgbClr val="5A5A5A"/>
                </a:solidFill>
              </a:rPr>
              <a:t>Submission overview generated with python-pptx</a:t>
            </a:r>
          </a:p>
        </p:txBody>
      </p:sp>
      <p:sp>
        <p:nvSpPr>
          <p:cNvPr id="4" name="Rectangle 3"/>
          <p:cNvSpPr/>
          <p:nvPr/>
        </p:nvSpPr>
        <p:spPr>
          <a:xfrm>
            <a:off x="914400" y="1600200"/>
            <a:ext cx="10332720" cy="4389120"/>
          </a:xfrm>
          <a:prstGeom prst="rect">
            <a:avLst/>
          </a:prstGeom>
          <a:solidFill>
            <a:srgbClr val="FFFFFF"/>
          </a:solidFill>
          <a:ln>
            <a:solidFill>
              <a:srgbClr val="C8CDD2"/>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l">
              <a:spcAft>
                <a:spcPts val="700"/>
              </a:spcAft>
            </a:pPr>
            <a:r>
              <a:rPr sz="1800">
                <a:solidFill>
                  <a:srgbClr val="191919"/>
                </a:solidFill>
              </a:rPr>
              <a:t>• Project: CW1 Submission Presentation</a:t>
            </a:r>
          </a:p>
          <a:p>
            <a:pPr algn="l">
              <a:spcAft>
                <a:spcPts val="700"/>
              </a:spcAft>
            </a:pPr>
            <a:r>
              <a:rPr sz="1800">
                <a:solidFill>
                  <a:srgbClr val="191919"/>
                </a:solidFill>
              </a:rPr>
              <a:t>• Student: Tony Kim (201567228)</a:t>
            </a:r>
          </a:p>
          <a:p>
            <a:pPr algn="l">
              <a:spcAft>
                <a:spcPts val="700"/>
              </a:spcAft>
            </a:pPr>
            <a:r>
              <a:rPr sz="1800">
                <a:solidFill>
                  <a:srgbClr val="191919"/>
                </a:solidFill>
              </a:rPr>
              <a:t>• Module: COMP3011 - Web Services &amp; Web Data</a:t>
            </a:r>
          </a:p>
          <a:p>
            <a:pPr algn="l">
              <a:spcAft>
                <a:spcPts val="700"/>
              </a:spcAft>
            </a:pPr>
            <a:r>
              <a:rPr sz="1800">
                <a:solidFill>
                  <a:srgbClr val="191919"/>
                </a:solidFill>
              </a:rPr>
              <a:t>• Dataset / API focus: movies / Dataset API</a:t>
            </a:r>
          </a:p>
          <a:p>
            <a:pPr algn="l">
              <a:spcAft>
                <a:spcPts val="700"/>
              </a:spcAft>
            </a:pPr>
            <a:r>
              <a:rPr sz="1800">
                <a:solidFill>
                  <a:srgbClr val="191919"/>
                </a:solidFill>
              </a:rPr>
              <a:t>• A terminal client and server-based dataset browser using curses were implemented.</a:t>
            </a:r>
          </a:p>
          <a:p>
            <a:pPr algn="l">
              <a:spcAft>
                <a:spcPts val="700"/>
              </a:spcAft>
            </a:pPr>
            <a:r>
              <a:rPr sz="1800">
                <a:solidFill>
                  <a:srgbClr val="191919"/>
                </a:solidFill>
              </a:rPr>
              <a:t>• The system supports querying, filtering, summaries, and API-backed interaction.</a:t>
            </a:r>
          </a:p>
        </p:txBody>
      </p:sp>
      <p:sp>
        <p:nvSpPr>
          <p:cNvPr id="5" name="TextBox 4"/>
          <p:cNvSpPr txBox="1"/>
          <p:nvPr/>
        </p:nvSpPr>
        <p:spPr>
          <a:xfrm>
            <a:off x="457200" y="6245352"/>
            <a:ext cx="11247120" cy="292608"/>
          </a:xfrm>
          <a:prstGeom prst="rect">
            <a:avLst/>
          </a:prstGeom>
          <a:noFill/>
        </p:spPr>
        <p:txBody>
          <a:bodyPr wrap="none">
            <a:spAutoFit/>
          </a:bodyPr>
          <a:lstStyle/>
          <a:p>
            <a:pPr algn="r"/>
            <a:r>
              <a:rPr sz="1000">
                <a:solidFill>
                  <a:srgbClr val="787878"/>
                </a:solidFill>
              </a:rPr>
              <a:t>Slide 1 of 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548640" y="256032"/>
            <a:ext cx="11064240" cy="731520"/>
          </a:xfrm>
          <a:prstGeom prst="rect">
            <a:avLst/>
          </a:prstGeom>
          <a:noFill/>
        </p:spPr>
        <p:txBody>
          <a:bodyPr wrap="none">
            <a:spAutoFit/>
          </a:bodyPr>
          <a:lstStyle/>
          <a:p>
            <a:pPr algn="ctr"/>
            <a:r>
              <a:rPr sz="2700" b="1">
                <a:solidFill>
                  <a:srgbClr val="142850"/>
                </a:solidFill>
              </a:rPr>
              <a:t>Version Control Practices and Commit Hist`ory</a:t>
            </a:r>
          </a:p>
        </p:txBody>
      </p:sp>
      <p:sp>
        <p:nvSpPr>
          <p:cNvPr id="3" name="Rectangle 2"/>
          <p:cNvSpPr/>
          <p:nvPr/>
        </p:nvSpPr>
        <p:spPr>
          <a:xfrm>
            <a:off x="914400" y="1600200"/>
            <a:ext cx="10332720" cy="4389120"/>
          </a:xfrm>
          <a:prstGeom prst="rect">
            <a:avLst/>
          </a:prstGeom>
          <a:solidFill>
            <a:srgbClr val="FFFFFF"/>
          </a:solidFill>
          <a:ln>
            <a:solidFill>
              <a:srgbClr val="C8CDD2"/>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ctr"/>
          </a:p>
        </p:txBody>
      </p:sp>
      <p:sp>
        <p:nvSpPr>
          <p:cNvPr id="4" name="TextBox 3"/>
          <p:cNvSpPr txBox="1"/>
          <p:nvPr/>
        </p:nvSpPr>
        <p:spPr>
          <a:xfrm>
            <a:off x="457200" y="6245352"/>
            <a:ext cx="11247120" cy="292608"/>
          </a:xfrm>
          <a:prstGeom prst="rect">
            <a:avLst/>
          </a:prstGeom>
          <a:noFill/>
        </p:spPr>
        <p:txBody>
          <a:bodyPr wrap="none">
            <a:spAutoFit/>
          </a:bodyPr>
          <a:lstStyle/>
          <a:p>
            <a:pPr algn="r"/>
            <a:r>
              <a:rPr sz="1000">
                <a:solidFill>
                  <a:srgbClr val="787878"/>
                </a:solidFill>
              </a:rPr>
              <a:t>Slide 2 of 5</a:t>
            </a:r>
          </a:p>
        </p:txBody>
      </p:sp>
      <p:pic>
        <p:nvPicPr>
          <p:cNvPr id="5" name="Picture 4" descr="스크린샷 2026-03-23 114729.png"/>
          <p:cNvPicPr>
            <a:picLocks noChangeAspect="1"/>
          </p:cNvPicPr>
          <p:nvPr/>
        </p:nvPicPr>
        <p:blipFill>
          <a:blip r:embed="rId2"/>
          <a:stretch>
            <a:fillRect/>
          </a:stretch>
        </p:blipFill>
        <p:spPr>
          <a:xfrm>
            <a:off x="914400" y="2393632"/>
            <a:ext cx="10332720" cy="2619375"/>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548640" y="256032"/>
            <a:ext cx="11064240" cy="731520"/>
          </a:xfrm>
          <a:prstGeom prst="rect">
            <a:avLst/>
          </a:prstGeom>
          <a:noFill/>
        </p:spPr>
        <p:txBody>
          <a:bodyPr wrap="none">
            <a:spAutoFit/>
          </a:bodyPr>
          <a:lstStyle/>
          <a:p>
            <a:pPr algn="ctr"/>
            <a:r>
              <a:rPr sz="2700" b="1">
                <a:solidFill>
                  <a:srgbClr val="142850"/>
                </a:solidFill>
              </a:rPr>
              <a:t>API Documentation Overview</a:t>
            </a:r>
          </a:p>
        </p:txBody>
      </p:sp>
      <p:sp>
        <p:nvSpPr>
          <p:cNvPr id="3" name="TextBox 2"/>
          <p:cNvSpPr txBox="1"/>
          <p:nvPr/>
        </p:nvSpPr>
        <p:spPr>
          <a:xfrm>
            <a:off x="731520" y="914400"/>
            <a:ext cx="10698480" cy="438912"/>
          </a:xfrm>
          <a:prstGeom prst="rect">
            <a:avLst/>
          </a:prstGeom>
          <a:noFill/>
        </p:spPr>
        <p:txBody>
          <a:bodyPr wrap="none">
            <a:spAutoFit/>
          </a:bodyPr>
          <a:lstStyle/>
          <a:p>
            <a:pPr algn="ctr"/>
            <a:r>
              <a:rPr sz="1400">
                <a:solidFill>
                  <a:srgbClr val="5A5A5A"/>
                </a:solidFill>
              </a:rPr>
              <a:t>What users and markers should be able to understand quickly</a:t>
            </a:r>
          </a:p>
        </p:txBody>
      </p:sp>
      <p:sp>
        <p:nvSpPr>
          <p:cNvPr id="4" name="Rectangle 3"/>
          <p:cNvSpPr/>
          <p:nvPr/>
        </p:nvSpPr>
        <p:spPr>
          <a:xfrm>
            <a:off x="914400" y="1600200"/>
            <a:ext cx="10332720" cy="4206240"/>
          </a:xfrm>
          <a:prstGeom prst="rect">
            <a:avLst/>
          </a:prstGeom>
          <a:solidFill>
            <a:srgbClr val="FFFFFF"/>
          </a:solidFill>
          <a:ln>
            <a:solidFill>
              <a:srgbClr val="C8CDD2"/>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l">
              <a:spcAft>
                <a:spcPts val="700"/>
              </a:spcAft>
            </a:pPr>
            <a:r>
              <a:rPr sz="1900">
                <a:solidFill>
                  <a:srgbClr val="191919"/>
                </a:solidFill>
              </a:rPr>
              <a:t>• Uses all CRUD methods:POST -&gt; for creating new dataset entries in create section</a:t>
            </a:r>
          </a:p>
          <a:p>
            <a:pPr algn="l">
              <a:spcAft>
                <a:spcPts val="700"/>
              </a:spcAft>
            </a:pPr>
            <a:r>
              <a:rPr sz="1900">
                <a:solidFill>
                  <a:srgbClr val="191919"/>
                </a:solidFill>
              </a:rPr>
              <a:t>• GET -&gt; for initializing dataset and querying dataset entries in read section</a:t>
            </a:r>
          </a:p>
          <a:p>
            <a:pPr algn="l">
              <a:spcAft>
                <a:spcPts val="700"/>
              </a:spcAft>
            </a:pPr>
            <a:r>
              <a:rPr sz="1900">
                <a:solidFill>
                  <a:srgbClr val="191919"/>
                </a:solidFill>
              </a:rPr>
              <a:t>• PUT -&gt; for updating existing dataset entries in update section</a:t>
            </a:r>
          </a:p>
          <a:p>
            <a:pPr algn="l">
              <a:spcAft>
                <a:spcPts val="700"/>
              </a:spcAft>
            </a:pPr>
            <a:r>
              <a:rPr sz="1900">
                <a:solidFill>
                  <a:srgbClr val="191919"/>
                </a:solidFill>
              </a:rPr>
              <a:t>• DELETE -&gt; for deleting dataset entries in delete section</a:t>
            </a:r>
          </a:p>
        </p:txBody>
      </p:sp>
      <p:sp>
        <p:nvSpPr>
          <p:cNvPr id="5" name="TextBox 4"/>
          <p:cNvSpPr txBox="1"/>
          <p:nvPr/>
        </p:nvSpPr>
        <p:spPr>
          <a:xfrm>
            <a:off x="457200" y="6245352"/>
            <a:ext cx="11247120" cy="292608"/>
          </a:xfrm>
          <a:prstGeom prst="rect">
            <a:avLst/>
          </a:prstGeom>
          <a:noFill/>
        </p:spPr>
        <p:txBody>
          <a:bodyPr wrap="none">
            <a:spAutoFit/>
          </a:bodyPr>
          <a:lstStyle/>
          <a:p>
            <a:pPr algn="r"/>
            <a:r>
              <a:rPr sz="1000">
                <a:solidFill>
                  <a:srgbClr val="787878"/>
                </a:solidFill>
              </a:rPr>
              <a:t>Slide 3 of 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548640" y="256032"/>
            <a:ext cx="11064240" cy="731520"/>
          </a:xfrm>
          <a:prstGeom prst="rect">
            <a:avLst/>
          </a:prstGeom>
          <a:noFill/>
        </p:spPr>
        <p:txBody>
          <a:bodyPr wrap="none">
            <a:spAutoFit/>
          </a:bodyPr>
          <a:lstStyle/>
          <a:p>
            <a:pPr algn="ctr"/>
            <a:r>
              <a:rPr sz="2700" b="1">
                <a:solidFill>
                  <a:srgbClr val="142850"/>
                </a:solidFill>
              </a:rPr>
              <a:t>Technical Report Highlights</a:t>
            </a:r>
          </a:p>
        </p:txBody>
      </p:sp>
      <p:sp>
        <p:nvSpPr>
          <p:cNvPr id="3" name="TextBox 2"/>
          <p:cNvSpPr txBox="1"/>
          <p:nvPr/>
        </p:nvSpPr>
        <p:spPr>
          <a:xfrm>
            <a:off x="731520" y="914400"/>
            <a:ext cx="10698480" cy="438912"/>
          </a:xfrm>
          <a:prstGeom prst="rect">
            <a:avLst/>
          </a:prstGeom>
          <a:noFill/>
        </p:spPr>
        <p:txBody>
          <a:bodyPr wrap="none">
            <a:spAutoFit/>
          </a:bodyPr>
          <a:lstStyle/>
          <a:p>
            <a:pPr algn="ctr"/>
            <a:r>
              <a:rPr sz="1400">
                <a:solidFill>
                  <a:srgbClr val="5A5A5A"/>
                </a:solidFill>
              </a:rPr>
              <a:t>Main implementation and evaluation points</a:t>
            </a:r>
          </a:p>
        </p:txBody>
      </p:sp>
      <p:sp>
        <p:nvSpPr>
          <p:cNvPr id="4" name="Rectangle 3"/>
          <p:cNvSpPr/>
          <p:nvPr/>
        </p:nvSpPr>
        <p:spPr>
          <a:xfrm>
            <a:off x="914400" y="1600200"/>
            <a:ext cx="10332720" cy="4206240"/>
          </a:xfrm>
          <a:prstGeom prst="rect">
            <a:avLst/>
          </a:prstGeom>
          <a:solidFill>
            <a:srgbClr val="FFFFFF"/>
          </a:solidFill>
          <a:ln>
            <a:solidFill>
              <a:srgbClr val="C8CDD2"/>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l">
              <a:spcAft>
                <a:spcPts val="700"/>
              </a:spcAft>
            </a:pPr>
            <a:r>
              <a:rPr sz="1900">
                <a:solidFill>
                  <a:srgbClr val="191919"/>
                </a:solidFill>
              </a:rPr>
              <a:t>• README.md provides setup and usage instructions.</a:t>
            </a:r>
          </a:p>
          <a:p>
            <a:pPr algn="l">
              <a:spcAft>
                <a:spcPts val="700"/>
              </a:spcAft>
            </a:pPr>
            <a:r>
              <a:rPr sz="1900">
                <a:solidFill>
                  <a:srgbClr val="191919"/>
                </a:solidFill>
              </a:rPr>
              <a:t>• API documentation file describes endpoints, parameters, and responses (in api_documentation.pdf).</a:t>
            </a:r>
          </a:p>
          <a:p>
            <a:pPr algn="l">
              <a:spcAft>
                <a:spcPts val="700"/>
              </a:spcAft>
            </a:pPr>
            <a:r>
              <a:rPr sz="1900">
                <a:solidFill>
                  <a:srgbClr val="191919"/>
                </a:solidFill>
              </a:rPr>
              <a:t>• Technical report (in technical_report.pdf) covers design, implementation, evaluation, and reflections.</a:t>
            </a:r>
          </a:p>
        </p:txBody>
      </p:sp>
      <p:sp>
        <p:nvSpPr>
          <p:cNvPr id="5" name="TextBox 4"/>
          <p:cNvSpPr txBox="1"/>
          <p:nvPr/>
        </p:nvSpPr>
        <p:spPr>
          <a:xfrm>
            <a:off x="457200" y="6245352"/>
            <a:ext cx="11247120" cy="292608"/>
          </a:xfrm>
          <a:prstGeom prst="rect">
            <a:avLst/>
          </a:prstGeom>
          <a:noFill/>
        </p:spPr>
        <p:txBody>
          <a:bodyPr wrap="none">
            <a:spAutoFit/>
          </a:bodyPr>
          <a:lstStyle/>
          <a:p>
            <a:pPr algn="r"/>
            <a:r>
              <a:rPr sz="1000">
                <a:solidFill>
                  <a:srgbClr val="787878"/>
                </a:solidFill>
              </a:rPr>
              <a:t>Slide 4 of 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548640" y="256032"/>
            <a:ext cx="11064240" cy="731520"/>
          </a:xfrm>
          <a:prstGeom prst="rect">
            <a:avLst/>
          </a:prstGeom>
          <a:noFill/>
        </p:spPr>
        <p:txBody>
          <a:bodyPr wrap="none">
            <a:spAutoFit/>
          </a:bodyPr>
          <a:lstStyle/>
          <a:p>
            <a:pPr algn="ctr"/>
            <a:r>
              <a:rPr sz="2700" b="1">
                <a:solidFill>
                  <a:srgbClr val="142850"/>
                </a:solidFill>
              </a:rPr>
              <a:t>Wrap up</a:t>
            </a:r>
          </a:p>
        </p:txBody>
      </p:sp>
      <p:sp>
        <p:nvSpPr>
          <p:cNvPr id="3" name="TextBox 2"/>
          <p:cNvSpPr txBox="1"/>
          <p:nvPr/>
        </p:nvSpPr>
        <p:spPr>
          <a:xfrm>
            <a:off x="731520" y="914400"/>
            <a:ext cx="10698480" cy="438912"/>
          </a:xfrm>
          <a:prstGeom prst="rect">
            <a:avLst/>
          </a:prstGeom>
          <a:noFill/>
        </p:spPr>
        <p:txBody>
          <a:bodyPr wrap="none">
            <a:spAutoFit/>
          </a:bodyPr>
          <a:lstStyle/>
          <a:p>
            <a:pPr algn="ctr"/>
            <a:r>
              <a:rPr sz="1400">
                <a:solidFill>
                  <a:srgbClr val="5A5A5A"/>
                </a:solidFill>
              </a:rPr>
              <a:t>final summary</a:t>
            </a:r>
          </a:p>
        </p:txBody>
      </p:sp>
      <p:sp>
        <p:nvSpPr>
          <p:cNvPr id="4" name="Rectangle 3"/>
          <p:cNvSpPr/>
          <p:nvPr/>
        </p:nvSpPr>
        <p:spPr>
          <a:xfrm>
            <a:off x="914400" y="1600200"/>
            <a:ext cx="10332720" cy="4206240"/>
          </a:xfrm>
          <a:prstGeom prst="rect">
            <a:avLst/>
          </a:prstGeom>
          <a:solidFill>
            <a:srgbClr val="FFFFFF"/>
          </a:solidFill>
          <a:ln>
            <a:solidFill>
              <a:srgbClr val="C8CDD2"/>
            </a:solidFill>
          </a:ln>
        </p:spPr>
        <p:style>
          <a:lnRef idx="1">
            <a:schemeClr val="accent1"/>
          </a:lnRef>
          <a:fillRef idx="3">
            <a:schemeClr val="accent1"/>
          </a:fillRef>
          <a:effectRef idx="2">
            <a:schemeClr val="accent1"/>
          </a:effectRef>
          <a:fontRef idx="minor">
            <a:schemeClr val="lt1"/>
          </a:fontRef>
        </p:style>
        <p:txBody>
          <a:bodyPr rtlCol="0" anchor="ctr" wrap="square">
            <a:normAutofit/>
          </a:bodyPr>
          <a:lstStyle/>
          <a:p>
            <a:pPr algn="l">
              <a:spcAft>
                <a:spcPts val="700"/>
              </a:spcAft>
            </a:pPr>
            <a:r>
              <a:rPr sz="1900">
                <a:solidFill>
                  <a:srgbClr val="191919"/>
                </a:solidFill>
              </a:rPr>
              <a:t>• Despite buidling a decent client server interaction model, the database was massive and the cost of querying and filtering was high. The size of the dataset was over 14GB which significantly hindered the UI performance. Also the backend logic of retreiving data didn't have low time complexity which ended up nearly freezing the program.</a:t>
            </a:r>
          </a:p>
          <a:p>
            <a:pPr algn="l">
              <a:spcAft>
                <a:spcPts val="700"/>
              </a:spcAft>
            </a:pPr>
            <a:r>
              <a:rPr sz="1900">
                <a:solidFill>
                  <a:srgbClr val="191919"/>
                </a:solidFill>
              </a:rPr>
              <a:t>• The API design and documentation could be further enhanced with more detailed examples and error handling.</a:t>
            </a:r>
          </a:p>
        </p:txBody>
      </p:sp>
      <p:sp>
        <p:nvSpPr>
          <p:cNvPr id="5" name="TextBox 4"/>
          <p:cNvSpPr txBox="1"/>
          <p:nvPr/>
        </p:nvSpPr>
        <p:spPr>
          <a:xfrm>
            <a:off x="457200" y="6245352"/>
            <a:ext cx="11247120" cy="292608"/>
          </a:xfrm>
          <a:prstGeom prst="rect">
            <a:avLst/>
          </a:prstGeom>
          <a:noFill/>
        </p:spPr>
        <p:txBody>
          <a:bodyPr wrap="none">
            <a:spAutoFit/>
          </a:bodyPr>
          <a:lstStyle/>
          <a:p>
            <a:pPr algn="r"/>
            <a:r>
              <a:rPr sz="1000">
                <a:solidFill>
                  <a:srgbClr val="787878"/>
                </a:solidFill>
              </a:rPr>
              <a:t>Slide 5 of 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